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59" r:id="rId4"/>
    <p:sldId id="257" r:id="rId5"/>
    <p:sldId id="260"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75B222-56A6-466C-8111-0B5914B14BB0}" v="14" dt="2024-07-15T12:56:21.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CERINI" userId="a0b4aa38-45d4-43ad-b958-a51fca5ed42d" providerId="ADAL" clId="{A675B222-56A6-466C-8111-0B5914B14BB0}"/>
    <pc:docChg chg="undo custSel addSld modSld sldOrd">
      <pc:chgData name="Andrew CERINI" userId="a0b4aa38-45d4-43ad-b958-a51fca5ed42d" providerId="ADAL" clId="{A675B222-56A6-466C-8111-0B5914B14BB0}" dt="2024-07-18T23:50:13.628" v="164"/>
      <pc:docMkLst>
        <pc:docMk/>
      </pc:docMkLst>
      <pc:sldChg chg="modSp mod ord">
        <pc:chgData name="Andrew CERINI" userId="a0b4aa38-45d4-43ad-b958-a51fca5ed42d" providerId="ADAL" clId="{A675B222-56A6-466C-8111-0B5914B14BB0}" dt="2024-07-18T23:50:07.175" v="162"/>
        <pc:sldMkLst>
          <pc:docMk/>
          <pc:sldMk cId="2679992103" sldId="259"/>
        </pc:sldMkLst>
        <pc:spChg chg="mod">
          <ac:chgData name="Andrew CERINI" userId="a0b4aa38-45d4-43ad-b958-a51fca5ed42d" providerId="ADAL" clId="{A675B222-56A6-466C-8111-0B5914B14BB0}" dt="2024-07-15T12:55:20.001" v="159" actId="20577"/>
          <ac:spMkLst>
            <pc:docMk/>
            <pc:sldMk cId="2679992103" sldId="259"/>
            <ac:spMk id="3" creationId="{6FB8B332-2BF2-BA8F-A725-96C6F265DDC9}"/>
          </ac:spMkLst>
        </pc:spChg>
      </pc:sldChg>
      <pc:sldChg chg="modSp ord">
        <pc:chgData name="Andrew CERINI" userId="a0b4aa38-45d4-43ad-b958-a51fca5ed42d" providerId="ADAL" clId="{A675B222-56A6-466C-8111-0B5914B14BB0}" dt="2024-07-18T23:50:13.628" v="164"/>
        <pc:sldMkLst>
          <pc:docMk/>
          <pc:sldMk cId="2619012548" sldId="260"/>
        </pc:sldMkLst>
        <pc:spChg chg="mod">
          <ac:chgData name="Andrew CERINI" userId="a0b4aa38-45d4-43ad-b958-a51fca5ed42d" providerId="ADAL" clId="{A675B222-56A6-466C-8111-0B5914B14BB0}" dt="2024-07-15T12:56:21.874" v="160" actId="20577"/>
          <ac:spMkLst>
            <pc:docMk/>
            <pc:sldMk cId="2619012548" sldId="260"/>
            <ac:spMk id="3" creationId="{C768CD34-1018-F524-598A-A9A879842BAF}"/>
          </ac:spMkLst>
        </pc:spChg>
      </pc:sldChg>
      <pc:sldChg chg="modSp new mod modAnim">
        <pc:chgData name="Andrew CERINI" userId="a0b4aa38-45d4-43ad-b958-a51fca5ed42d" providerId="ADAL" clId="{A675B222-56A6-466C-8111-0B5914B14BB0}" dt="2024-07-15T12:52:21.904" v="142"/>
        <pc:sldMkLst>
          <pc:docMk/>
          <pc:sldMk cId="4011283050" sldId="261"/>
        </pc:sldMkLst>
        <pc:spChg chg="mod">
          <ac:chgData name="Andrew CERINI" userId="a0b4aa38-45d4-43ad-b958-a51fca5ed42d" providerId="ADAL" clId="{A675B222-56A6-466C-8111-0B5914B14BB0}" dt="2024-07-15T12:52:06.128" v="133" actId="2711"/>
          <ac:spMkLst>
            <pc:docMk/>
            <pc:sldMk cId="4011283050" sldId="261"/>
            <ac:spMk id="2" creationId="{F1763763-7120-5920-A41E-29C936617188}"/>
          </ac:spMkLst>
        </pc:spChg>
        <pc:spChg chg="mod">
          <ac:chgData name="Andrew CERINI" userId="a0b4aa38-45d4-43ad-b958-a51fca5ed42d" providerId="ADAL" clId="{A675B222-56A6-466C-8111-0B5914B14BB0}" dt="2024-07-15T12:52:12.819" v="141" actId="20577"/>
          <ac:spMkLst>
            <pc:docMk/>
            <pc:sldMk cId="4011283050" sldId="261"/>
            <ac:spMk id="3" creationId="{038BBB73-7AF2-0CA2-3E01-977D0C791573}"/>
          </ac:spMkLst>
        </pc:spChg>
      </pc:sldChg>
      <pc:sldChg chg="addSp modSp new mod modAnim">
        <pc:chgData name="Andrew CERINI" userId="a0b4aa38-45d4-43ad-b958-a51fca5ed42d" providerId="ADAL" clId="{A675B222-56A6-466C-8111-0B5914B14BB0}" dt="2024-07-15T12:54:16.628" v="157" actId="27636"/>
        <pc:sldMkLst>
          <pc:docMk/>
          <pc:sldMk cId="3015933464" sldId="262"/>
        </pc:sldMkLst>
        <pc:spChg chg="mod">
          <ac:chgData name="Andrew CERINI" userId="a0b4aa38-45d4-43ad-b958-a51fca5ed42d" providerId="ADAL" clId="{A675B222-56A6-466C-8111-0B5914B14BB0}" dt="2024-07-15T12:52:35.167" v="143" actId="14100"/>
          <ac:spMkLst>
            <pc:docMk/>
            <pc:sldMk cId="3015933464" sldId="262"/>
            <ac:spMk id="2" creationId="{A81CD3C0-FEE0-E1B9-B3CF-EA76650C06B7}"/>
          </ac:spMkLst>
        </pc:spChg>
        <pc:spChg chg="mod">
          <ac:chgData name="Andrew CERINI" userId="a0b4aa38-45d4-43ad-b958-a51fca5ed42d" providerId="ADAL" clId="{A675B222-56A6-466C-8111-0B5914B14BB0}" dt="2024-07-15T12:54:16.628" v="157" actId="27636"/>
          <ac:spMkLst>
            <pc:docMk/>
            <pc:sldMk cId="3015933464" sldId="262"/>
            <ac:spMk id="3" creationId="{68F0B2FB-64A5-E2C6-C500-5E664960A9E9}"/>
          </ac:spMkLst>
        </pc:spChg>
        <pc:spChg chg="add mod">
          <ac:chgData name="Andrew CERINI" userId="a0b4aa38-45d4-43ad-b958-a51fca5ed42d" providerId="ADAL" clId="{A675B222-56A6-466C-8111-0B5914B14BB0}" dt="2024-07-15T12:54:05.619" v="153" actId="14100"/>
          <ac:spMkLst>
            <pc:docMk/>
            <pc:sldMk cId="3015933464" sldId="262"/>
            <ac:spMk id="4" creationId="{2C0FE6D1-3D3C-FEA4-E887-08FEBB85FB49}"/>
          </ac:spMkLst>
        </pc:spChg>
        <pc:spChg chg="add mod">
          <ac:chgData name="Andrew CERINI" userId="a0b4aa38-45d4-43ad-b958-a51fca5ed42d" providerId="ADAL" clId="{A675B222-56A6-466C-8111-0B5914B14BB0}" dt="2024-07-15T12:51:14.411" v="101" actId="14100"/>
          <ac:spMkLst>
            <pc:docMk/>
            <pc:sldMk cId="3015933464" sldId="262"/>
            <ac:spMk id="5" creationId="{867A4BBA-9D0B-0CC0-4479-C6564C483917}"/>
          </ac:spMkLst>
        </pc:spChg>
        <pc:spChg chg="add mod">
          <ac:chgData name="Andrew CERINI" userId="a0b4aa38-45d4-43ad-b958-a51fca5ed42d" providerId="ADAL" clId="{A675B222-56A6-466C-8111-0B5914B14BB0}" dt="2024-07-15T12:53:13.928" v="151" actId="20577"/>
          <ac:spMkLst>
            <pc:docMk/>
            <pc:sldMk cId="3015933464" sldId="262"/>
            <ac:spMk id="6" creationId="{1CB418ED-6AE8-E24F-1DAF-EADBCE71DDB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0407-515F-AE09-BFB9-7EA5FA705B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A09EDD1-DB36-7EA1-AA23-398DAAE7C1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1817D3E-7517-B466-B456-EF4CFF49EFA6}"/>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5" name="Footer Placeholder 4">
            <a:extLst>
              <a:ext uri="{FF2B5EF4-FFF2-40B4-BE49-F238E27FC236}">
                <a16:creationId xmlns:a16="http://schemas.microsoft.com/office/drawing/2014/main" id="{E38DD844-C184-0BCA-5F50-A9CFF4861BE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104C66B-B36C-2FFC-F993-8E16237166FF}"/>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2349279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DD405-64C5-8F9F-C9DF-1D179087A4C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278BF33-ADB9-5659-E492-B7826AD80F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2215B4E-491B-D447-DB1D-FE4719E54682}"/>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5" name="Footer Placeholder 4">
            <a:extLst>
              <a:ext uri="{FF2B5EF4-FFF2-40B4-BE49-F238E27FC236}">
                <a16:creationId xmlns:a16="http://schemas.microsoft.com/office/drawing/2014/main" id="{48F2B685-CF10-D2FC-4AA4-C0E7F76911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35F5047-7EAE-CDF4-A62C-EFB2C6CC6A45}"/>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4052255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F2BE3-E5EE-5318-4C88-21E64EAA36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63F3A67-972A-8FB2-8673-117BF416AC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1924D4-6D5E-CC36-E4F0-BC7B72D9340F}"/>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5" name="Footer Placeholder 4">
            <a:extLst>
              <a:ext uri="{FF2B5EF4-FFF2-40B4-BE49-F238E27FC236}">
                <a16:creationId xmlns:a16="http://schemas.microsoft.com/office/drawing/2014/main" id="{2E58291D-2948-DE6F-D5DB-1B3BE15A30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2EEE116-0E09-0BEB-DFF6-D408C37BC45A}"/>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322337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72E11-15FA-893E-9DBB-61E1E9DA9F6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18BDF92-FF4E-817E-494B-2D5563F139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CD33601-12D8-4343-A5B2-E7BD0CDA59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59DC7CB-0D5D-6FD1-5C7B-BD5FA30CC1D9}"/>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6" name="Footer Placeholder 5">
            <a:extLst>
              <a:ext uri="{FF2B5EF4-FFF2-40B4-BE49-F238E27FC236}">
                <a16:creationId xmlns:a16="http://schemas.microsoft.com/office/drawing/2014/main" id="{CD1DAD68-F33B-16FF-4E48-6681B417EC7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DE733D4-D3C6-4371-7449-53F2BF4C6D0A}"/>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1644468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E3BD4-9540-D97C-B3A8-0C7BFB3E8D03}"/>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088DA29-015B-B1B8-4ABB-DB2634019F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B3ED12-0C7A-D87E-9DD5-6BDADFF7B8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929B76E3-5AC0-07C6-8898-0752BFFBF4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E11657-944C-2E3C-8598-71DB46A671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57899C7-8795-A635-6ADD-EC4A735EF565}"/>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8" name="Footer Placeholder 7">
            <a:extLst>
              <a:ext uri="{FF2B5EF4-FFF2-40B4-BE49-F238E27FC236}">
                <a16:creationId xmlns:a16="http://schemas.microsoft.com/office/drawing/2014/main" id="{9A9B89B4-A079-4988-A412-57B3344CBE3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729C5D89-3321-95D2-8612-CF2A33A13C98}"/>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1225254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75AFD-9001-08A8-DF9C-6F7F5DE093F5}"/>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966A8CE-55A4-0810-C80A-7B90FAED87A9}"/>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4" name="Footer Placeholder 3">
            <a:extLst>
              <a:ext uri="{FF2B5EF4-FFF2-40B4-BE49-F238E27FC236}">
                <a16:creationId xmlns:a16="http://schemas.microsoft.com/office/drawing/2014/main" id="{9CF2EF15-9A54-FC77-2430-A3B928C2DD0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46EFC84-B919-7CCA-8D0C-CB0083A1CE09}"/>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1653059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C66C71-A5ED-8A6C-3259-B2529D4C9C1A}"/>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3" name="Footer Placeholder 2">
            <a:extLst>
              <a:ext uri="{FF2B5EF4-FFF2-40B4-BE49-F238E27FC236}">
                <a16:creationId xmlns:a16="http://schemas.microsoft.com/office/drawing/2014/main" id="{24331EDA-9BCB-6A65-023E-CB964B64165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7EB4C3A-E73A-9667-4797-127FBA0CD38E}"/>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71923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1193-32BE-BAFA-C48C-E6626744CF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747F352-5E09-F355-73E2-AA52BCD98E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BAFADF3-F383-C8C4-9D06-EEFF63B25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043B0B-A6B6-09CE-A267-5D694747E197}"/>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6" name="Footer Placeholder 5">
            <a:extLst>
              <a:ext uri="{FF2B5EF4-FFF2-40B4-BE49-F238E27FC236}">
                <a16:creationId xmlns:a16="http://schemas.microsoft.com/office/drawing/2014/main" id="{DC7ACA07-B616-46CA-288E-EE6BC354534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85684B5-D377-CD4A-05D2-52B9824FD133}"/>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3021429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9BF5B-EFDF-1E70-CD98-2A2815D3BD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382B583-9865-979C-E20E-F8C0126AC0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B3FBA81-DDD9-B935-DF36-4FAC2FC3F2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20B1DC-9F22-1D57-F0CA-6D1B16E8CA95}"/>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6" name="Footer Placeholder 5">
            <a:extLst>
              <a:ext uri="{FF2B5EF4-FFF2-40B4-BE49-F238E27FC236}">
                <a16:creationId xmlns:a16="http://schemas.microsoft.com/office/drawing/2014/main" id="{0D60671B-B765-1400-246B-89E3C31B05D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38EB1D4-507D-FD36-FDE8-6BEA9697DDA4}"/>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3840758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A8E68-D530-BF5F-03C0-4ED644FF7E2C}"/>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CF8CA87-EB75-60E6-A522-D646185AA5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2C719BE-4D37-A348-CE21-823B60C969BB}"/>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5" name="Footer Placeholder 4">
            <a:extLst>
              <a:ext uri="{FF2B5EF4-FFF2-40B4-BE49-F238E27FC236}">
                <a16:creationId xmlns:a16="http://schemas.microsoft.com/office/drawing/2014/main" id="{D461788F-58FF-A7FD-656B-454E727D87D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12BB06A-B7F8-5D69-30AA-B9C9AF0571EA}"/>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293193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2CFF0C-0A2E-8F33-DBA4-D953F9D304C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9C178CB-0608-6FA8-C68C-0541FF6392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E2D0F97-D2D8-9647-4FAC-83247A5B3DCB}"/>
              </a:ext>
            </a:extLst>
          </p:cNvPr>
          <p:cNvSpPr>
            <a:spLocks noGrp="1"/>
          </p:cNvSpPr>
          <p:nvPr>
            <p:ph type="dt" sz="half" idx="10"/>
          </p:nvPr>
        </p:nvSpPr>
        <p:spPr/>
        <p:txBody>
          <a:bodyPr/>
          <a:lstStyle/>
          <a:p>
            <a:fld id="{14DFC6F5-FF43-4513-876A-AF3DA2B6B735}" type="datetimeFigureOut">
              <a:rPr lang="en-AU" smtClean="0"/>
              <a:t>19/07/2024</a:t>
            </a:fld>
            <a:endParaRPr lang="en-AU"/>
          </a:p>
        </p:txBody>
      </p:sp>
      <p:sp>
        <p:nvSpPr>
          <p:cNvPr id="5" name="Footer Placeholder 4">
            <a:extLst>
              <a:ext uri="{FF2B5EF4-FFF2-40B4-BE49-F238E27FC236}">
                <a16:creationId xmlns:a16="http://schemas.microsoft.com/office/drawing/2014/main" id="{86609159-68C8-7412-1ABF-1FE70AC171E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E6E5392-ED32-DE04-5FE9-35FCF54F1972}"/>
              </a:ext>
            </a:extLst>
          </p:cNvPr>
          <p:cNvSpPr>
            <a:spLocks noGrp="1"/>
          </p:cNvSpPr>
          <p:nvPr>
            <p:ph type="sldNum" sz="quarter" idx="12"/>
          </p:nvPr>
        </p:nvSpPr>
        <p:spPr/>
        <p:txBody>
          <a:bodyPr/>
          <a:lstStyle/>
          <a:p>
            <a:fld id="{E267FC84-E180-4D23-95C3-C20119D38CA3}" type="slidenum">
              <a:rPr lang="en-AU" smtClean="0"/>
              <a:t>‹#›</a:t>
            </a:fld>
            <a:endParaRPr lang="en-AU"/>
          </a:p>
        </p:txBody>
      </p:sp>
    </p:spTree>
    <p:extLst>
      <p:ext uri="{BB962C8B-B14F-4D97-AF65-F5344CB8AC3E}">
        <p14:creationId xmlns:p14="http://schemas.microsoft.com/office/powerpoint/2010/main" val="1326010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D2604-638D-44C6-1C3E-B7B2C7B9E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DCF088A-45A7-8994-065C-8F9175ECFF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7CE5ADC-7DA0-C51B-F82F-6C19826FE3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DFC6F5-FF43-4513-876A-AF3DA2B6B735}" type="datetimeFigureOut">
              <a:rPr lang="en-AU" smtClean="0"/>
              <a:t>19/07/2024</a:t>
            </a:fld>
            <a:endParaRPr lang="en-AU"/>
          </a:p>
        </p:txBody>
      </p:sp>
      <p:sp>
        <p:nvSpPr>
          <p:cNvPr id="5" name="Footer Placeholder 4">
            <a:extLst>
              <a:ext uri="{FF2B5EF4-FFF2-40B4-BE49-F238E27FC236}">
                <a16:creationId xmlns:a16="http://schemas.microsoft.com/office/drawing/2014/main" id="{B23E8CA1-3725-0CCF-3D75-BBFA43DBB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18C4CBCA-45E7-BAB4-B875-68BD801BBC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67FC84-E180-4D23-95C3-C20119D38CA3}" type="slidenum">
              <a:rPr lang="en-AU" smtClean="0"/>
              <a:t>‹#›</a:t>
            </a:fld>
            <a:endParaRPr lang="en-AU"/>
          </a:p>
        </p:txBody>
      </p:sp>
    </p:spTree>
    <p:extLst>
      <p:ext uri="{BB962C8B-B14F-4D97-AF65-F5344CB8AC3E}">
        <p14:creationId xmlns:p14="http://schemas.microsoft.com/office/powerpoint/2010/main" val="1771273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63763-7120-5920-A41E-29C936617188}"/>
              </a:ext>
            </a:extLst>
          </p:cNvPr>
          <p:cNvSpPr>
            <a:spLocks noGrp="1"/>
          </p:cNvSpPr>
          <p:nvPr>
            <p:ph type="ctrTitle"/>
          </p:nvPr>
        </p:nvSpPr>
        <p:spPr/>
        <p:txBody>
          <a:bodyPr/>
          <a:lstStyle/>
          <a:p>
            <a:r>
              <a:rPr lang="ja-JP" altLang="en-US" dirty="0">
                <a:latin typeface="NtMotoyaKyotai" panose="02020400000000000000" pitchFamily="18" charset="-128"/>
                <a:ea typeface="NtMotoyaKyotai" panose="02020400000000000000" pitchFamily="18" charset="-128"/>
              </a:rPr>
              <a:t>しごと</a:t>
            </a:r>
            <a:br>
              <a:rPr lang="en-AU" altLang="ja-JP" dirty="0">
                <a:latin typeface="NtMotoyaKyotai" panose="02020400000000000000" pitchFamily="18" charset="-128"/>
                <a:ea typeface="NtMotoyaKyotai" panose="02020400000000000000" pitchFamily="18" charset="-128"/>
              </a:rPr>
            </a:br>
            <a:r>
              <a:rPr lang="ja-JP" altLang="en-US" dirty="0">
                <a:latin typeface="NtMotoyaKyotai" panose="02020400000000000000" pitchFamily="18" charset="-128"/>
                <a:ea typeface="NtMotoyaKyotai" panose="02020400000000000000" pitchFamily="18" charset="-128"/>
              </a:rPr>
              <a:t>仕事</a:t>
            </a:r>
            <a:endParaRPr lang="en-AU" dirty="0">
              <a:latin typeface="NtMotoyaKyotai" panose="02020400000000000000" pitchFamily="18" charset="-128"/>
              <a:ea typeface="NtMotoyaKyotai" panose="02020400000000000000" pitchFamily="18" charset="-128"/>
            </a:endParaRPr>
          </a:p>
        </p:txBody>
      </p:sp>
      <p:sp>
        <p:nvSpPr>
          <p:cNvPr id="3" name="Subtitle 2">
            <a:extLst>
              <a:ext uri="{FF2B5EF4-FFF2-40B4-BE49-F238E27FC236}">
                <a16:creationId xmlns:a16="http://schemas.microsoft.com/office/drawing/2014/main" id="{038BBB73-7AF2-0CA2-3E01-977D0C791573}"/>
              </a:ext>
            </a:extLst>
          </p:cNvPr>
          <p:cNvSpPr>
            <a:spLocks noGrp="1"/>
          </p:cNvSpPr>
          <p:nvPr>
            <p:ph type="subTitle" idx="1"/>
          </p:nvPr>
        </p:nvSpPr>
        <p:spPr/>
        <p:txBody>
          <a:bodyPr/>
          <a:lstStyle/>
          <a:p>
            <a:r>
              <a:rPr lang="en-AU" dirty="0"/>
              <a:t>work</a:t>
            </a:r>
          </a:p>
        </p:txBody>
      </p:sp>
    </p:spTree>
    <p:extLst>
      <p:ext uri="{BB962C8B-B14F-4D97-AF65-F5344CB8AC3E}">
        <p14:creationId xmlns:p14="http://schemas.microsoft.com/office/powerpoint/2010/main" val="401128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CD3C0-FEE0-E1B9-B3CF-EA76650C06B7}"/>
              </a:ext>
            </a:extLst>
          </p:cNvPr>
          <p:cNvSpPr>
            <a:spLocks noGrp="1"/>
          </p:cNvSpPr>
          <p:nvPr>
            <p:ph type="title"/>
          </p:nvPr>
        </p:nvSpPr>
        <p:spPr>
          <a:xfrm>
            <a:off x="838200" y="365126"/>
            <a:ext cx="10515600" cy="764082"/>
          </a:xfrm>
        </p:spPr>
        <p:txBody>
          <a:bodyPr/>
          <a:lstStyle/>
          <a:p>
            <a:r>
              <a:rPr lang="en-AU" dirty="0"/>
              <a:t>Part time jobs in Japan and Australia</a:t>
            </a:r>
          </a:p>
        </p:txBody>
      </p:sp>
      <p:sp>
        <p:nvSpPr>
          <p:cNvPr id="3" name="Content Placeholder 2">
            <a:extLst>
              <a:ext uri="{FF2B5EF4-FFF2-40B4-BE49-F238E27FC236}">
                <a16:creationId xmlns:a16="http://schemas.microsoft.com/office/drawing/2014/main" id="{68F0B2FB-64A5-E2C6-C500-5E664960A9E9}"/>
              </a:ext>
            </a:extLst>
          </p:cNvPr>
          <p:cNvSpPr>
            <a:spLocks noGrp="1"/>
          </p:cNvSpPr>
          <p:nvPr>
            <p:ph idx="1"/>
          </p:nvPr>
        </p:nvSpPr>
        <p:spPr>
          <a:xfrm>
            <a:off x="-2176" y="1471748"/>
            <a:ext cx="3154680" cy="4781006"/>
          </a:xfrm>
        </p:spPr>
        <p:txBody>
          <a:bodyPr>
            <a:normAutofit fontScale="62500" lnSpcReduction="20000"/>
          </a:bodyPr>
          <a:lstStyle/>
          <a:p>
            <a:pPr marL="0" indent="0">
              <a:buNone/>
            </a:pPr>
            <a:r>
              <a:rPr lang="en-AU" dirty="0"/>
              <a:t>1. Convenience store clerk</a:t>
            </a:r>
          </a:p>
          <a:p>
            <a:pPr marL="0" indent="0">
              <a:buNone/>
            </a:pPr>
            <a:r>
              <a:rPr lang="en-AU" dirty="0"/>
              <a:t>2. Fast food restaurant staff</a:t>
            </a:r>
          </a:p>
          <a:p>
            <a:pPr marL="0" indent="0">
              <a:buNone/>
            </a:pPr>
            <a:r>
              <a:rPr lang="en-AU" dirty="0"/>
              <a:t>3. Cafe staff / Barista</a:t>
            </a:r>
          </a:p>
          <a:p>
            <a:pPr marL="0" indent="0">
              <a:buNone/>
            </a:pPr>
            <a:r>
              <a:rPr lang="en-AU" dirty="0"/>
              <a:t>4. Supermarket staff / Grocery store clerk</a:t>
            </a:r>
          </a:p>
          <a:p>
            <a:pPr marL="0" indent="0">
              <a:buNone/>
            </a:pPr>
            <a:r>
              <a:rPr lang="en-AU" dirty="0"/>
              <a:t>5. Retail sales associate</a:t>
            </a:r>
          </a:p>
          <a:p>
            <a:pPr marL="0" indent="0">
              <a:buNone/>
            </a:pPr>
            <a:r>
              <a:rPr lang="en-AU" dirty="0"/>
              <a:t>6. Tutor / Cram school assistant</a:t>
            </a:r>
          </a:p>
          <a:p>
            <a:pPr marL="0" indent="0">
              <a:buNone/>
            </a:pPr>
            <a:r>
              <a:rPr lang="en-AU" dirty="0"/>
              <a:t>7. Movie </a:t>
            </a:r>
            <a:r>
              <a:rPr lang="en-AU" dirty="0" err="1"/>
              <a:t>theater</a:t>
            </a:r>
            <a:r>
              <a:rPr lang="en-AU" dirty="0"/>
              <a:t> staff</a:t>
            </a:r>
          </a:p>
          <a:p>
            <a:pPr marL="0" indent="0">
              <a:buNone/>
            </a:pPr>
            <a:r>
              <a:rPr lang="en-AU" dirty="0"/>
              <a:t>8. Bookstore clerk</a:t>
            </a:r>
          </a:p>
          <a:p>
            <a:pPr marL="0" indent="0">
              <a:buNone/>
            </a:pPr>
            <a:r>
              <a:rPr lang="en-AU" dirty="0"/>
              <a:t>9. Delivery person</a:t>
            </a:r>
          </a:p>
          <a:p>
            <a:pPr marL="0" indent="0">
              <a:buNone/>
            </a:pPr>
            <a:r>
              <a:rPr lang="en-AU" dirty="0"/>
              <a:t>10. Customer service agent</a:t>
            </a:r>
          </a:p>
          <a:p>
            <a:pPr marL="0" indent="0">
              <a:buNone/>
            </a:pPr>
            <a:r>
              <a:rPr lang="en-AU" dirty="0"/>
              <a:t>11. Car wash attendant</a:t>
            </a:r>
          </a:p>
          <a:p>
            <a:pPr marL="0" indent="0">
              <a:buNone/>
            </a:pPr>
            <a:r>
              <a:rPr lang="en-AU" dirty="0"/>
              <a:t>12. Babysitter</a:t>
            </a:r>
          </a:p>
        </p:txBody>
      </p:sp>
      <p:sp>
        <p:nvSpPr>
          <p:cNvPr id="4" name="TextBox 3">
            <a:extLst>
              <a:ext uri="{FF2B5EF4-FFF2-40B4-BE49-F238E27FC236}">
                <a16:creationId xmlns:a16="http://schemas.microsoft.com/office/drawing/2014/main" id="{2C0FE6D1-3D3C-FEA4-E887-08FEBB85FB49}"/>
              </a:ext>
            </a:extLst>
          </p:cNvPr>
          <p:cNvSpPr txBox="1"/>
          <p:nvPr/>
        </p:nvSpPr>
        <p:spPr>
          <a:xfrm>
            <a:off x="3039290" y="1393372"/>
            <a:ext cx="2838994" cy="4524315"/>
          </a:xfrm>
          <a:prstGeom prst="rect">
            <a:avLst/>
          </a:prstGeom>
          <a:noFill/>
        </p:spPr>
        <p:txBody>
          <a:bodyPr wrap="square" rtlCol="0">
            <a:spAutoFit/>
          </a:bodyPr>
          <a:lstStyle/>
          <a:p>
            <a:pPr marL="0" indent="0">
              <a:buNone/>
            </a:pPr>
            <a:r>
              <a:rPr lang="en-AU" dirty="0"/>
              <a:t>13. Dog walker</a:t>
            </a:r>
          </a:p>
          <a:p>
            <a:pPr marL="0" indent="0">
              <a:buNone/>
            </a:pPr>
            <a:r>
              <a:rPr lang="en-AU" dirty="0"/>
              <a:t>14. Food delivery driver</a:t>
            </a:r>
          </a:p>
          <a:p>
            <a:pPr marL="0" indent="0">
              <a:buNone/>
            </a:pPr>
            <a:r>
              <a:rPr lang="en-AU" dirty="0"/>
              <a:t>15. Newspaper delivery</a:t>
            </a:r>
          </a:p>
          <a:p>
            <a:pPr marL="0" indent="0">
              <a:buNone/>
            </a:pPr>
            <a:r>
              <a:rPr lang="en-AU" dirty="0"/>
              <a:t>16. Library assistant</a:t>
            </a:r>
          </a:p>
          <a:p>
            <a:pPr marL="0" indent="0">
              <a:buNone/>
            </a:pPr>
            <a:r>
              <a:rPr lang="en-AU" dirty="0"/>
              <a:t>17. Gym attendant</a:t>
            </a:r>
          </a:p>
          <a:p>
            <a:pPr marL="0" indent="0">
              <a:buNone/>
            </a:pPr>
            <a:r>
              <a:rPr lang="en-AU" dirty="0"/>
              <a:t>18. Theme park staff</a:t>
            </a:r>
          </a:p>
          <a:p>
            <a:pPr marL="0" indent="0">
              <a:buNone/>
            </a:pPr>
            <a:r>
              <a:rPr lang="en-AU" dirty="0"/>
              <a:t>19. Ice cream shop server</a:t>
            </a:r>
          </a:p>
          <a:p>
            <a:pPr marL="0" indent="0">
              <a:buNone/>
            </a:pPr>
            <a:r>
              <a:rPr lang="en-AU" dirty="0"/>
              <a:t>20. Bakery assistant</a:t>
            </a:r>
          </a:p>
          <a:p>
            <a:pPr marL="0" indent="0">
              <a:buNone/>
            </a:pPr>
            <a:r>
              <a:rPr lang="en-AU" dirty="0"/>
              <a:t>21. Pet shop assistant</a:t>
            </a:r>
          </a:p>
          <a:p>
            <a:pPr marL="0" indent="0">
              <a:buNone/>
            </a:pPr>
            <a:r>
              <a:rPr lang="en-AU" dirty="0"/>
              <a:t>22. Florist assistant</a:t>
            </a:r>
          </a:p>
          <a:p>
            <a:pPr marL="0" indent="0">
              <a:buNone/>
            </a:pPr>
            <a:r>
              <a:rPr lang="en-AU" dirty="0"/>
              <a:t>23. Car park attendant</a:t>
            </a:r>
          </a:p>
          <a:p>
            <a:pPr marL="0" indent="0">
              <a:buNone/>
            </a:pPr>
            <a:r>
              <a:rPr lang="en-AU" dirty="0"/>
              <a:t>24. Hotel housekeeping staff</a:t>
            </a:r>
          </a:p>
          <a:p>
            <a:pPr marL="0" indent="0">
              <a:buNone/>
            </a:pPr>
            <a:r>
              <a:rPr lang="en-AU" dirty="0"/>
              <a:t>25. Data entry clerk</a:t>
            </a:r>
          </a:p>
          <a:p>
            <a:pPr marL="0" indent="0">
              <a:buNone/>
            </a:pPr>
            <a:r>
              <a:rPr lang="en-AU" dirty="0"/>
              <a:t>26. Social media assistant</a:t>
            </a:r>
          </a:p>
          <a:p>
            <a:endParaRPr lang="en-AU" dirty="0"/>
          </a:p>
        </p:txBody>
      </p:sp>
      <p:sp>
        <p:nvSpPr>
          <p:cNvPr id="5" name="TextBox 4">
            <a:extLst>
              <a:ext uri="{FF2B5EF4-FFF2-40B4-BE49-F238E27FC236}">
                <a16:creationId xmlns:a16="http://schemas.microsoft.com/office/drawing/2014/main" id="{867A4BBA-9D0B-0CC0-4479-C6564C483917}"/>
              </a:ext>
            </a:extLst>
          </p:cNvPr>
          <p:cNvSpPr txBox="1"/>
          <p:nvPr/>
        </p:nvSpPr>
        <p:spPr>
          <a:xfrm>
            <a:off x="5799909" y="1406206"/>
            <a:ext cx="3291839" cy="3970318"/>
          </a:xfrm>
          <a:prstGeom prst="rect">
            <a:avLst/>
          </a:prstGeom>
          <a:noFill/>
        </p:spPr>
        <p:txBody>
          <a:bodyPr wrap="square" rtlCol="0">
            <a:spAutoFit/>
          </a:bodyPr>
          <a:lstStyle/>
          <a:p>
            <a:pPr marL="0" indent="0">
              <a:buNone/>
            </a:pPr>
            <a:r>
              <a:rPr lang="en-AU" dirty="0"/>
              <a:t>27. Photography assistant</a:t>
            </a:r>
          </a:p>
          <a:p>
            <a:pPr marL="0" indent="0">
              <a:buNone/>
            </a:pPr>
            <a:r>
              <a:rPr lang="en-AU" dirty="0"/>
              <a:t>28. Sports coach / Referee</a:t>
            </a:r>
          </a:p>
          <a:p>
            <a:pPr marL="0" indent="0">
              <a:buNone/>
            </a:pPr>
            <a:r>
              <a:rPr lang="en-AU" dirty="0"/>
              <a:t>29. Music teacher (for beginners)</a:t>
            </a:r>
          </a:p>
          <a:p>
            <a:pPr marL="0" indent="0">
              <a:buNone/>
            </a:pPr>
            <a:r>
              <a:rPr lang="en-AU" dirty="0"/>
              <a:t>30. Art class assistant</a:t>
            </a:r>
          </a:p>
          <a:p>
            <a:pPr marL="0" indent="0">
              <a:buNone/>
            </a:pPr>
            <a:r>
              <a:rPr lang="en-AU" dirty="0"/>
              <a:t>31. Swimming instructor</a:t>
            </a:r>
          </a:p>
          <a:p>
            <a:pPr marL="0" indent="0">
              <a:buNone/>
            </a:pPr>
            <a:r>
              <a:rPr lang="en-AU" dirty="0"/>
              <a:t>32. Golf caddy</a:t>
            </a:r>
          </a:p>
          <a:p>
            <a:pPr marL="0" indent="0">
              <a:buNone/>
            </a:pPr>
            <a:r>
              <a:rPr lang="en-AU" dirty="0"/>
              <a:t>33. Kitchen hand</a:t>
            </a:r>
          </a:p>
          <a:p>
            <a:pPr marL="0" indent="0">
              <a:buNone/>
            </a:pPr>
            <a:r>
              <a:rPr lang="en-AU" dirty="0"/>
              <a:t>34. Dishwasher</a:t>
            </a:r>
          </a:p>
          <a:p>
            <a:pPr marL="0" indent="0">
              <a:buNone/>
            </a:pPr>
            <a:r>
              <a:rPr lang="en-AU" dirty="0"/>
              <a:t>35. Farm hand / Fruit picker</a:t>
            </a:r>
          </a:p>
          <a:p>
            <a:pPr marL="0" indent="0">
              <a:buNone/>
            </a:pPr>
            <a:r>
              <a:rPr lang="en-AU" dirty="0"/>
              <a:t>36. Garden </a:t>
            </a:r>
            <a:r>
              <a:rPr lang="en-AU" dirty="0" err="1"/>
              <a:t>center</a:t>
            </a:r>
            <a:r>
              <a:rPr lang="en-AU" dirty="0"/>
              <a:t> assistant</a:t>
            </a:r>
          </a:p>
          <a:p>
            <a:pPr marL="0" indent="0">
              <a:buNone/>
            </a:pPr>
            <a:r>
              <a:rPr lang="en-AU" dirty="0"/>
              <a:t>37. Warehouse worker</a:t>
            </a:r>
          </a:p>
          <a:p>
            <a:pPr marL="0" indent="0">
              <a:buNone/>
            </a:pPr>
            <a:r>
              <a:rPr lang="en-AU" dirty="0"/>
              <a:t>38. Event staff</a:t>
            </a:r>
          </a:p>
          <a:p>
            <a:endParaRPr lang="en-AU" dirty="0"/>
          </a:p>
        </p:txBody>
      </p:sp>
      <p:sp>
        <p:nvSpPr>
          <p:cNvPr id="6" name="TextBox 5">
            <a:extLst>
              <a:ext uri="{FF2B5EF4-FFF2-40B4-BE49-F238E27FC236}">
                <a16:creationId xmlns:a16="http://schemas.microsoft.com/office/drawing/2014/main" id="{1CB418ED-6AE8-E24F-1DAF-EADBCE71DDB8}"/>
              </a:ext>
            </a:extLst>
          </p:cNvPr>
          <p:cNvSpPr txBox="1"/>
          <p:nvPr/>
        </p:nvSpPr>
        <p:spPr>
          <a:xfrm>
            <a:off x="9013371" y="1332411"/>
            <a:ext cx="3178629" cy="3970318"/>
          </a:xfrm>
          <a:prstGeom prst="rect">
            <a:avLst/>
          </a:prstGeom>
          <a:noFill/>
        </p:spPr>
        <p:txBody>
          <a:bodyPr wrap="square" rtlCol="0">
            <a:spAutoFit/>
          </a:bodyPr>
          <a:lstStyle/>
          <a:p>
            <a:pPr marL="0" indent="0">
              <a:buNone/>
            </a:pPr>
            <a:r>
              <a:rPr lang="en-AU" dirty="0"/>
              <a:t>39. Usher at concerts or sporting events</a:t>
            </a:r>
          </a:p>
          <a:p>
            <a:pPr marL="0" indent="0">
              <a:buNone/>
            </a:pPr>
            <a:r>
              <a:rPr lang="en-AU" dirty="0"/>
              <a:t>40. Gift wrapper (seasonal)</a:t>
            </a:r>
          </a:p>
          <a:p>
            <a:pPr marL="0" indent="0">
              <a:buNone/>
            </a:pPr>
            <a:r>
              <a:rPr lang="en-AU" dirty="0"/>
              <a:t>41. Tour guide assistant</a:t>
            </a:r>
          </a:p>
          <a:p>
            <a:pPr marL="0" indent="0">
              <a:buNone/>
            </a:pPr>
            <a:r>
              <a:rPr lang="en-AU" dirty="0"/>
              <a:t>42. Telemarketer</a:t>
            </a:r>
          </a:p>
          <a:p>
            <a:pPr marL="0" indent="0">
              <a:buNone/>
            </a:pPr>
            <a:r>
              <a:rPr lang="en-AU" dirty="0"/>
              <a:t>43. Office assistant</a:t>
            </a:r>
          </a:p>
          <a:p>
            <a:pPr marL="0" indent="0">
              <a:buNone/>
            </a:pPr>
            <a:r>
              <a:rPr lang="en-AU" dirty="0"/>
              <a:t>44. Receptionist (part-time)</a:t>
            </a:r>
          </a:p>
          <a:p>
            <a:pPr marL="0" indent="0">
              <a:buNone/>
            </a:pPr>
            <a:r>
              <a:rPr lang="en-AU" dirty="0"/>
              <a:t>45. Cleaning staff</a:t>
            </a:r>
          </a:p>
          <a:p>
            <a:pPr marL="0" indent="0">
              <a:buNone/>
            </a:pPr>
            <a:r>
              <a:rPr lang="en-AU" dirty="0"/>
              <a:t>46. Laundromat attendant</a:t>
            </a:r>
          </a:p>
          <a:p>
            <a:pPr marL="0" indent="0">
              <a:buNone/>
            </a:pPr>
            <a:r>
              <a:rPr lang="en-AU" dirty="0"/>
              <a:t>47. Bike rental shop assistant</a:t>
            </a:r>
          </a:p>
          <a:p>
            <a:pPr marL="0" indent="0">
              <a:buNone/>
            </a:pPr>
            <a:r>
              <a:rPr lang="en-AU" dirty="0"/>
              <a:t>48. Arcade attendant</a:t>
            </a:r>
          </a:p>
          <a:p>
            <a:pPr marL="0" indent="0">
              <a:buNone/>
            </a:pPr>
            <a:r>
              <a:rPr lang="en-AU" dirty="0"/>
              <a:t>49. Karaoke booth staff</a:t>
            </a:r>
          </a:p>
          <a:p>
            <a:pPr marL="0" indent="0">
              <a:buNone/>
            </a:pPr>
            <a:r>
              <a:rPr lang="en-AU" dirty="0"/>
              <a:t>50. Valet parking attendant</a:t>
            </a:r>
          </a:p>
          <a:p>
            <a:endParaRPr lang="en-AU" dirty="0"/>
          </a:p>
        </p:txBody>
      </p:sp>
    </p:spTree>
    <p:extLst>
      <p:ext uri="{BB962C8B-B14F-4D97-AF65-F5344CB8AC3E}">
        <p14:creationId xmlns:p14="http://schemas.microsoft.com/office/powerpoint/2010/main" val="301593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8A39F-CB2E-2C03-F39B-BB7438DE4228}"/>
              </a:ext>
            </a:extLst>
          </p:cNvPr>
          <p:cNvSpPr>
            <a:spLocks noGrp="1"/>
          </p:cNvSpPr>
          <p:nvPr>
            <p:ph type="title"/>
          </p:nvPr>
        </p:nvSpPr>
        <p:spPr/>
        <p:txBody>
          <a:bodyPr/>
          <a:lstStyle/>
          <a:p>
            <a:r>
              <a:rPr lang="en-AU" dirty="0"/>
              <a:t>Top 5 part-time jobs for Australian students:</a:t>
            </a:r>
          </a:p>
        </p:txBody>
      </p:sp>
      <p:sp>
        <p:nvSpPr>
          <p:cNvPr id="3" name="Content Placeholder 2">
            <a:extLst>
              <a:ext uri="{FF2B5EF4-FFF2-40B4-BE49-F238E27FC236}">
                <a16:creationId xmlns:a16="http://schemas.microsoft.com/office/drawing/2014/main" id="{6FB8B332-2BF2-BA8F-A725-96C6F265DDC9}"/>
              </a:ext>
            </a:extLst>
          </p:cNvPr>
          <p:cNvSpPr>
            <a:spLocks noGrp="1"/>
          </p:cNvSpPr>
          <p:nvPr>
            <p:ph idx="1"/>
          </p:nvPr>
        </p:nvSpPr>
        <p:spPr/>
        <p:txBody>
          <a:bodyPr>
            <a:normAutofit fontScale="25000" lnSpcReduction="20000"/>
          </a:bodyPr>
          <a:lstStyle/>
          <a:p>
            <a:pPr marL="514350" indent="-514350">
              <a:buFont typeface="Arial" panose="020B0604020202020204" pitchFamily="34" charset="0"/>
              <a:buAutoNum type="arabicPeriod"/>
            </a:pPr>
            <a:r>
              <a:rPr lang="en-AU" sz="8000" dirty="0"/>
              <a:t>Retail Sales Assistant: This is a common entry-level job for high school students, often found in clothing stores, supermarkets, and other retail outlets. It helps develop customer service and communication skills.</a:t>
            </a:r>
          </a:p>
          <a:p>
            <a:pPr marL="514350" indent="-514350">
              <a:buFont typeface="Arial" panose="020B0604020202020204" pitchFamily="34" charset="0"/>
              <a:buAutoNum type="arabicPeriod"/>
            </a:pPr>
            <a:r>
              <a:rPr lang="en-AU" sz="8000" dirty="0"/>
              <a:t>Fast Food or Restaurant Server: Many high school students work in fast food chains or local restaurants as servers or kitchen staff. This job teaches teamwork and time management skills.</a:t>
            </a:r>
          </a:p>
          <a:p>
            <a:pPr marL="514350" indent="-514350">
              <a:buFont typeface="Arial" panose="020B0604020202020204" pitchFamily="34" charset="0"/>
              <a:buAutoNum type="arabicPeriod"/>
            </a:pPr>
            <a:r>
              <a:rPr lang="en-AU" sz="8000" dirty="0"/>
              <a:t>Tutor: Students who excel academically can work as tutors for younger students or their peers. This job pays well, with rates ranging from $20 to $45 per hour, depending on the subject and location.</a:t>
            </a:r>
          </a:p>
          <a:p>
            <a:pPr marL="514350" indent="-514350">
              <a:buFont typeface="Arial" panose="020B0604020202020204" pitchFamily="34" charset="0"/>
              <a:buAutoNum type="arabicPeriod"/>
            </a:pPr>
            <a:r>
              <a:rPr lang="en-AU" sz="8000" dirty="0"/>
              <a:t>Barista: Coffee shops often hire high school students as baristas. This job helps develop customer service skills and can be a good fit for those interested in the hospitality industry.</a:t>
            </a:r>
          </a:p>
          <a:p>
            <a:pPr marL="514350" indent="-514350">
              <a:buFont typeface="Arial" panose="020B0604020202020204" pitchFamily="34" charset="0"/>
              <a:buAutoNum type="arabicPeriod"/>
            </a:pPr>
            <a:r>
              <a:rPr lang="en-AU" sz="8000" dirty="0"/>
              <a:t>Customer Service: Many companies hire high school students for customer service roles, either in-person or over the phone. The average pay is around $20-26 per hour, making it an attractive option.</a:t>
            </a:r>
          </a:p>
          <a:p>
            <a:pPr marL="0" indent="0">
              <a:buNone/>
            </a:pPr>
            <a:r>
              <a:rPr lang="en-AU" sz="8000" dirty="0"/>
              <a:t>It's important to note that the availability and popularity of these jobs can vary depending on the location within Australia. For example, in Sydney, receptionist and administration assistant roles are also popular among students.</a:t>
            </a:r>
          </a:p>
        </p:txBody>
      </p:sp>
    </p:spTree>
    <p:extLst>
      <p:ext uri="{BB962C8B-B14F-4D97-AF65-F5344CB8AC3E}">
        <p14:creationId xmlns:p14="http://schemas.microsoft.com/office/powerpoint/2010/main" val="2679992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756D7-EFB5-6DA9-2E48-EF3A7217206F}"/>
              </a:ext>
            </a:extLst>
          </p:cNvPr>
          <p:cNvSpPr>
            <a:spLocks noGrp="1"/>
          </p:cNvSpPr>
          <p:nvPr>
            <p:ph type="title"/>
          </p:nvPr>
        </p:nvSpPr>
        <p:spPr/>
        <p:txBody>
          <a:bodyPr>
            <a:normAutofit/>
          </a:bodyPr>
          <a:lstStyle/>
          <a:p>
            <a:r>
              <a:rPr lang="en-AU" dirty="0"/>
              <a:t>Top 5 part-time jobs for Japanese students:</a:t>
            </a:r>
          </a:p>
        </p:txBody>
      </p:sp>
      <p:sp>
        <p:nvSpPr>
          <p:cNvPr id="3" name="Content Placeholder 2">
            <a:extLst>
              <a:ext uri="{FF2B5EF4-FFF2-40B4-BE49-F238E27FC236}">
                <a16:creationId xmlns:a16="http://schemas.microsoft.com/office/drawing/2014/main" id="{2E2A2759-05EF-8601-4028-21FD89782273}"/>
              </a:ext>
            </a:extLst>
          </p:cNvPr>
          <p:cNvSpPr>
            <a:spLocks noGrp="1"/>
          </p:cNvSpPr>
          <p:nvPr>
            <p:ph idx="1"/>
          </p:nvPr>
        </p:nvSpPr>
        <p:spPr/>
        <p:txBody>
          <a:bodyPr>
            <a:normAutofit fontScale="70000" lnSpcReduction="20000"/>
          </a:bodyPr>
          <a:lstStyle/>
          <a:p>
            <a:pPr marL="514350" indent="-514350">
              <a:buAutoNum type="arabicPeriod"/>
            </a:pPr>
            <a:r>
              <a:rPr lang="en-AU" dirty="0"/>
              <a:t>Restaurant Staff: This includes customer service and kitchen assistance jobs in restaurants, cafes, and fast-food chains. It's popular due to the high number of job openings and relative ease of getting started.</a:t>
            </a:r>
          </a:p>
          <a:p>
            <a:pPr marL="514350" indent="-514350">
              <a:buAutoNum type="arabicPeriod"/>
            </a:pPr>
            <a:r>
              <a:rPr lang="en-AU" dirty="0"/>
              <a:t>Cram School Tutor / Private Tutor: This job leverages students' academic strengths. It's popular due to good hourly wages and the ability to work even for short hours.</a:t>
            </a:r>
          </a:p>
          <a:p>
            <a:pPr marL="514350" indent="-514350">
              <a:buAutoNum type="arabicPeriod"/>
            </a:pPr>
            <a:r>
              <a:rPr lang="en-AU" dirty="0"/>
              <a:t> Convenience Store Clerk: Many convenience stores operate 24 hours, making it easy for students to find shifts that fit their schedules.</a:t>
            </a:r>
          </a:p>
          <a:p>
            <a:pPr marL="514350" indent="-514350">
              <a:buAutoNum type="arabicPeriod"/>
            </a:pPr>
            <a:r>
              <a:rPr lang="en-AU" dirty="0"/>
              <a:t>Apparel Sales Associate: This is popular among students interested in fashion and provides opportunities to develop customer service skills.</a:t>
            </a:r>
          </a:p>
          <a:p>
            <a:pPr marL="514350" indent="-514350">
              <a:buAutoNum type="arabicPeriod"/>
            </a:pPr>
            <a:r>
              <a:rPr lang="en-AU" dirty="0"/>
              <a:t>Cafe Staff: Particularly popular among female college students, the appeal lies in working in a stylish atmosphere.</a:t>
            </a:r>
          </a:p>
          <a:p>
            <a:pPr marL="0" indent="0">
              <a:buNone/>
            </a:pPr>
            <a:r>
              <a:rPr lang="en-AU" dirty="0"/>
              <a:t>These part-time jobs are chosen by many Japanese students because they're easy to balance with studies and help develop basic knowledge and communication skills needed in society. Hourly wages vary by region and job content, but generally range from about 800 to 1000 yen.</a:t>
            </a:r>
          </a:p>
        </p:txBody>
      </p:sp>
    </p:spTree>
    <p:extLst>
      <p:ext uri="{BB962C8B-B14F-4D97-AF65-F5344CB8AC3E}">
        <p14:creationId xmlns:p14="http://schemas.microsoft.com/office/powerpoint/2010/main" val="159997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A7128-6857-3A96-FA69-F2E12D734EF8}"/>
              </a:ext>
            </a:extLst>
          </p:cNvPr>
          <p:cNvSpPr>
            <a:spLocks noGrp="1"/>
          </p:cNvSpPr>
          <p:nvPr>
            <p:ph type="title"/>
          </p:nvPr>
        </p:nvSpPr>
        <p:spPr>
          <a:xfrm>
            <a:off x="359228" y="0"/>
            <a:ext cx="11345091" cy="1325563"/>
          </a:xfrm>
        </p:spPr>
        <p:txBody>
          <a:bodyPr/>
          <a:lstStyle/>
          <a:p>
            <a:r>
              <a:rPr lang="en-AU" dirty="0"/>
              <a:t>Top 5 desirable jobs for Australian high schoolers</a:t>
            </a:r>
          </a:p>
        </p:txBody>
      </p:sp>
      <p:sp>
        <p:nvSpPr>
          <p:cNvPr id="3" name="Content Placeholder 2">
            <a:extLst>
              <a:ext uri="{FF2B5EF4-FFF2-40B4-BE49-F238E27FC236}">
                <a16:creationId xmlns:a16="http://schemas.microsoft.com/office/drawing/2014/main" id="{C768CD34-1018-F524-598A-A9A879842BAF}"/>
              </a:ext>
            </a:extLst>
          </p:cNvPr>
          <p:cNvSpPr>
            <a:spLocks noGrp="1"/>
          </p:cNvSpPr>
          <p:nvPr>
            <p:ph idx="1"/>
          </p:nvPr>
        </p:nvSpPr>
        <p:spPr>
          <a:xfrm>
            <a:off x="838200" y="1062446"/>
            <a:ext cx="10515600" cy="5512525"/>
          </a:xfrm>
        </p:spPr>
        <p:txBody>
          <a:bodyPr>
            <a:normAutofit fontScale="25000" lnSpcReduction="20000"/>
          </a:bodyPr>
          <a:lstStyle/>
          <a:p>
            <a:pPr marL="514350" indent="-514350">
              <a:buFont typeface="Arial" panose="020B0604020202020204" pitchFamily="34" charset="0"/>
              <a:buAutoNum type="arabicPeriod"/>
            </a:pPr>
            <a:r>
              <a:rPr lang="en-AU" sz="8000" dirty="0"/>
              <a:t>Teacher: This profession consistently ranks high among high school students. It offers a stable career path with opportunities to make a positive impact on young people's lives. The search results show multiple teaching positions available, indicating its popularity and demand.</a:t>
            </a:r>
          </a:p>
          <a:p>
            <a:pPr marL="514350" indent="-514350">
              <a:buFont typeface="Arial" panose="020B0604020202020204" pitchFamily="34" charset="0"/>
              <a:buAutoNum type="arabicPeriod"/>
            </a:pPr>
            <a:r>
              <a:rPr lang="en-AU" sz="8000" dirty="0"/>
              <a:t>Engineer/Programmer: With the growing importance of technology, careers in engineering and programming are increasingly attractive to high school students. The search results mention opportunities for junior software developers and technology-related careers.</a:t>
            </a:r>
          </a:p>
          <a:p>
            <a:pPr marL="514350" indent="-514350">
              <a:buFont typeface="Arial" panose="020B0604020202020204" pitchFamily="34" charset="0"/>
              <a:buAutoNum type="arabicPeriod"/>
            </a:pPr>
            <a:r>
              <a:rPr lang="en-AU" sz="8000" dirty="0"/>
              <a:t>Healthcare Professional (e.g., Doctor, Nurse): While not explicitly mentioned in the search results, healthcare professions are traditionally popular among high school students due to their perceived job security and the opportunity to help others.</a:t>
            </a:r>
          </a:p>
          <a:p>
            <a:pPr marL="514350" indent="-514350">
              <a:buFont typeface="Arial" panose="020B0604020202020204" pitchFamily="34" charset="0"/>
              <a:buAutoNum type="arabicPeriod"/>
            </a:pPr>
            <a:r>
              <a:rPr lang="en-AU" sz="8000" dirty="0"/>
              <a:t>Business Professional: Many high school students aspire to careers in business. This could include roles in management, marketing, or finance. </a:t>
            </a:r>
          </a:p>
          <a:p>
            <a:pPr marL="514350" indent="-514350">
              <a:buFont typeface="Arial" panose="020B0604020202020204" pitchFamily="34" charset="0"/>
              <a:buAutoNum type="arabicPeriod"/>
            </a:pPr>
            <a:r>
              <a:rPr lang="en-AU" sz="8000" dirty="0"/>
              <a:t>Creative Professional: Careers in creative fields such as content creation, social media management, and writing/editing are becoming increasingly popular among high school students. The search results mention several content creator positions and writing/editing opportunities.</a:t>
            </a:r>
          </a:p>
          <a:p>
            <a:pPr marL="0" indent="0">
              <a:buNone/>
            </a:pPr>
            <a:r>
              <a:rPr lang="en-AU" sz="8000" dirty="0"/>
              <a:t>It's important to note that career aspirations can vary widely among individuals and may be influenced by factors such as personal interests, perceived job market demand, and exposure to different career options. Additionally, these preferences may change as students progress through their education and gain more experience.</a:t>
            </a:r>
          </a:p>
        </p:txBody>
      </p:sp>
    </p:spTree>
    <p:extLst>
      <p:ext uri="{BB962C8B-B14F-4D97-AF65-F5344CB8AC3E}">
        <p14:creationId xmlns:p14="http://schemas.microsoft.com/office/powerpoint/2010/main" val="2619012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2B5A4-5DDD-787B-9960-5BAFDC94BC76}"/>
              </a:ext>
            </a:extLst>
          </p:cNvPr>
          <p:cNvSpPr>
            <a:spLocks noGrp="1"/>
          </p:cNvSpPr>
          <p:nvPr>
            <p:ph type="title"/>
          </p:nvPr>
        </p:nvSpPr>
        <p:spPr>
          <a:xfrm>
            <a:off x="444137" y="365125"/>
            <a:ext cx="11416937" cy="1325563"/>
          </a:xfrm>
        </p:spPr>
        <p:txBody>
          <a:bodyPr/>
          <a:lstStyle/>
          <a:p>
            <a:r>
              <a:rPr lang="en-AU" dirty="0"/>
              <a:t>Top 5 desirable jobs for Japanese high schoolers</a:t>
            </a:r>
          </a:p>
        </p:txBody>
      </p:sp>
      <p:sp>
        <p:nvSpPr>
          <p:cNvPr id="3" name="Content Placeholder 2">
            <a:extLst>
              <a:ext uri="{FF2B5EF4-FFF2-40B4-BE49-F238E27FC236}">
                <a16:creationId xmlns:a16="http://schemas.microsoft.com/office/drawing/2014/main" id="{2F512F4E-DD34-6B63-F282-C0F135F8E563}"/>
              </a:ext>
            </a:extLst>
          </p:cNvPr>
          <p:cNvSpPr>
            <a:spLocks noGrp="1"/>
          </p:cNvSpPr>
          <p:nvPr>
            <p:ph idx="1"/>
          </p:nvPr>
        </p:nvSpPr>
        <p:spPr>
          <a:xfrm>
            <a:off x="698863" y="1869168"/>
            <a:ext cx="10515600" cy="4351338"/>
          </a:xfrm>
        </p:spPr>
        <p:txBody>
          <a:bodyPr>
            <a:normAutofit fontScale="25000" lnSpcReduction="20000"/>
          </a:bodyPr>
          <a:lstStyle/>
          <a:p>
            <a:pPr marL="514350" indent="-514350">
              <a:buFont typeface="Arial" panose="020B0604020202020204" pitchFamily="34" charset="0"/>
              <a:buAutoNum type="arabicPeriod"/>
            </a:pPr>
            <a:r>
              <a:rPr lang="en-AU" sz="8000" dirty="0"/>
              <a:t>Company Worker: This ranks as the most popular career choice for male high school students[3]. It also appears as a top choice for junior high school boys, indicating its growing appeal as students get older[2].</a:t>
            </a:r>
          </a:p>
          <a:p>
            <a:pPr marL="514350" indent="-514350">
              <a:buFont typeface="Arial" panose="020B0604020202020204" pitchFamily="34" charset="0"/>
              <a:buAutoNum type="arabicPeriod"/>
            </a:pPr>
            <a:r>
              <a:rPr lang="en-AU" sz="8000" dirty="0"/>
              <a:t>Public Servant: This job ranks highly for both male and female students. It's tied for first place among junior high school boys and is the second most popular choice for junior high school girls[2].</a:t>
            </a:r>
          </a:p>
          <a:p>
            <a:pPr marL="514350" indent="-514350">
              <a:buFont typeface="Arial" panose="020B0604020202020204" pitchFamily="34" charset="0"/>
              <a:buAutoNum type="arabicPeriod"/>
            </a:pPr>
            <a:r>
              <a:rPr lang="en-AU" sz="8000" dirty="0"/>
              <a:t>Engineer/Programmer: This career is particularly popular among male students. It ranks fourth in the list for junior high school boys[2], reflecting the growing interest in technology-related fields.</a:t>
            </a:r>
          </a:p>
          <a:p>
            <a:pPr marL="514350" indent="-514350">
              <a:buFont typeface="Arial" panose="020B0604020202020204" pitchFamily="34" charset="0"/>
              <a:buAutoNum type="arabicPeriod"/>
            </a:pPr>
            <a:r>
              <a:rPr lang="en-AU" sz="8000" dirty="0"/>
              <a:t>Teacher: This profession consistently ranks high across different surveys. It's the fifth most popular choice for junior high school girls[2] and is also mentioned as ranking highly in surveys conducted by many institutions[1].</a:t>
            </a:r>
          </a:p>
          <a:p>
            <a:pPr marL="514350" indent="-514350">
              <a:buFont typeface="Arial" panose="020B0604020202020204" pitchFamily="34" charset="0"/>
              <a:buAutoNum type="arabicPeriod"/>
            </a:pPr>
            <a:r>
              <a:rPr lang="en-AU" sz="8000" dirty="0"/>
              <a:t>Doctor: While not at the top, this profession appears in the top 10 for both male and female students. It's the eighth most popular choice for junior high school boys and the sixth for junior high school girls[2].</a:t>
            </a:r>
          </a:p>
          <a:p>
            <a:pPr marL="0" indent="0">
              <a:buNone/>
            </a:pPr>
            <a:r>
              <a:rPr lang="en-AU" sz="8000" dirty="0"/>
              <a:t>It's worth noting that these preferences can vary slightly between genders and may change as students progress from junior high to high school. For instance, some careers like YouTuber or game creator are popular among younger students but become less prominent in high school rankings[2][3].</a:t>
            </a:r>
          </a:p>
          <a:p>
            <a:endParaRPr lang="en-AU" dirty="0"/>
          </a:p>
          <a:p>
            <a:r>
              <a:rPr lang="en-AU" dirty="0"/>
              <a:t>Citations:</a:t>
            </a:r>
          </a:p>
          <a:p>
            <a:r>
              <a:rPr lang="en-AU" dirty="0"/>
              <a:t>[1] https://japanupclose.web-japan.org/techculture/c20221028_2.html</a:t>
            </a:r>
          </a:p>
          <a:p>
            <a:r>
              <a:rPr lang="en-AU" dirty="0"/>
              <a:t>[2] https://www.nippon.com/en/japan-data/h00979/</a:t>
            </a:r>
          </a:p>
          <a:p>
            <a:r>
              <a:rPr lang="en-AU" dirty="0"/>
              <a:t>[3] https://www.statista.com/statistics/1067724/japan-favorite-careers-male-high-school-students/</a:t>
            </a:r>
          </a:p>
          <a:p>
            <a:r>
              <a:rPr lang="en-AU" dirty="0"/>
              <a:t>[4] https://www.japan-guide.com/forum/quereadisplay.html</a:t>
            </a:r>
          </a:p>
          <a:p>
            <a:r>
              <a:rPr lang="en-AU" dirty="0"/>
              <a:t>[5] https://blog.studrill.com/part-time-in-japan/</a:t>
            </a:r>
          </a:p>
        </p:txBody>
      </p:sp>
    </p:spTree>
    <p:extLst>
      <p:ext uri="{BB962C8B-B14F-4D97-AF65-F5344CB8AC3E}">
        <p14:creationId xmlns:p14="http://schemas.microsoft.com/office/powerpoint/2010/main" val="350807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1270</Words>
  <Application>Microsoft Office PowerPoint</Application>
  <PresentationFormat>Widescreen</PresentationFormat>
  <Paragraphs>88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NtMotoyaKyotai</vt:lpstr>
      <vt:lpstr>Aptos</vt:lpstr>
      <vt:lpstr>Aptos Display</vt:lpstr>
      <vt:lpstr>Arial</vt:lpstr>
      <vt:lpstr>Office Theme</vt:lpstr>
      <vt:lpstr>しごと 仕事</vt:lpstr>
      <vt:lpstr>Part time jobs in Japan and Australia</vt:lpstr>
      <vt:lpstr>Top 5 part-time jobs for Australian students:</vt:lpstr>
      <vt:lpstr>Top 5 part-time jobs for Japanese students:</vt:lpstr>
      <vt:lpstr>Top 5 desirable jobs for Australian high schoolers</vt:lpstr>
      <vt:lpstr>Top 5 desirable jobs for Japanese high schoolers</vt:lpstr>
    </vt:vector>
  </TitlesOfParts>
  <Company>Kew High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CERINI</dc:creator>
  <cp:lastModifiedBy>Andrew CERINI</cp:lastModifiedBy>
  <cp:revision>1</cp:revision>
  <dcterms:created xsi:type="dcterms:W3CDTF">2024-07-15T12:31:21Z</dcterms:created>
  <dcterms:modified xsi:type="dcterms:W3CDTF">2024-07-18T23:50:16Z</dcterms:modified>
</cp:coreProperties>
</file>